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640080"/>
            <a:ext cx="3383280" cy="3749039"/>
          </a:xfrm>
          <a:prstGeom prst="rect">
            <a:avLst/>
          </a:prstGeom>
          <a:solidFill>
            <a:srgbClr val="F5FA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latin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4846320" y="640080"/>
            <a:ext cx="2834640" cy="3749039"/>
          </a:xfrm>
          <a:prstGeom prst="rect">
            <a:avLst/>
          </a:prstGeom>
          <a:solidFill>
            <a:srgbClr val="F5FA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latin typeface="Microsoft Ya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640080"/>
            <a:ext cx="4206240" cy="3749039"/>
          </a:xfrm>
          <a:prstGeom prst="rect">
            <a:avLst/>
          </a:prstGeom>
          <a:solidFill>
            <a:srgbClr val="F5FA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latin typeface="Microsoft Ya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640080"/>
            <a:ext cx="3383280" cy="320040"/>
          </a:xfrm>
          <a:prstGeom prst="rect">
            <a:avLst/>
          </a:prstGeom>
          <a:solidFill>
            <a:srgbClr val="D6E7F7"/>
          </a:solidFill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latin typeface="Microsoft YaHei"/>
              </a:rPr>
              <a:t>1. 输入表示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640080"/>
            <a:ext cx="2834640" cy="320040"/>
          </a:xfrm>
          <a:prstGeom prst="rect">
            <a:avLst/>
          </a:prstGeom>
          <a:solidFill>
            <a:srgbClr val="D6E7F7"/>
          </a:solidFill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latin typeface="Microsoft YaHei"/>
              </a:rPr>
              <a:t>2. 主干编码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640080"/>
            <a:ext cx="4206240" cy="320040"/>
          </a:xfrm>
          <a:prstGeom prst="rect">
            <a:avLst/>
          </a:prstGeom>
          <a:solidFill>
            <a:srgbClr val="D6E7F7"/>
          </a:solidFill>
          <a:ln w="1270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latin typeface="Microsoft YaHei"/>
              </a:rPr>
              <a:t>3. 预测与训练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2011680"/>
            <a:ext cx="1417320" cy="1554480"/>
          </a:xfrm>
          <a:prstGeom prst="roundRect">
            <a:avLst/>
          </a:prstGeom>
          <a:solidFill>
            <a:srgbClr val="FAFD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latin typeface="Microsoft YaHei"/>
              </a:rPr>
              <a:t>输入
物品序列 I
时间序列 T
序列长度 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783080"/>
            <a:ext cx="2331720" cy="2148840"/>
          </a:xfrm>
          <a:prstGeom prst="roundRect">
            <a:avLst/>
          </a:prstGeom>
          <a:solidFill>
            <a:srgbClr val="E2EFFB"/>
          </a:solidFill>
          <a:ln w="15240">
            <a:solidFill>
              <a:srgbClr val="8C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latin typeface="Microsoft YaHei"/>
              </a:rPr>
              <a:t>时间感知输入表示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2331720"/>
            <a:ext cx="17373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latin typeface="Microsoft YaHei"/>
              </a:rPr>
              <a:t>CTE：连续/离散时间编码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3154680"/>
            <a:ext cx="17373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latin typeface="Microsoft YaHei"/>
              </a:rPr>
              <a:t>TGF：时间门控融合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560320"/>
            <a:ext cx="457200" cy="548640"/>
          </a:xfrm>
          <a:prstGeom prst="roundRect">
            <a:avLst/>
          </a:prstGeom>
          <a:solidFill>
            <a:srgbClr val="F0F8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latin typeface="Microsoft YaHei"/>
              </a:rPr>
              <a:t>H^(0)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2286000" cy="2057400"/>
          </a:xfrm>
          <a:prstGeom prst="roundRect">
            <a:avLst/>
          </a:prstGeom>
          <a:solidFill>
            <a:srgbClr val="E2EFFB"/>
          </a:solidFill>
          <a:ln w="17780">
            <a:solidFill>
              <a:srgbClr val="8C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latin typeface="Microsoft YaHei"/>
              </a:rPr>
              <a:t>TimeWeaver 主干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2423160"/>
            <a:ext cx="82296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latin typeface="Microsoft YaHei"/>
              </a:rPr>
              <a:t>上下文流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54680"/>
            <a:ext cx="82296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latin typeface="Microsoft YaHei"/>
              </a:rPr>
              <a:t>动态流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743200"/>
            <a:ext cx="685800" cy="594360"/>
          </a:xfrm>
          <a:prstGeom prst="roundRect">
            <a:avLst/>
          </a:prstGeom>
          <a:solidFill>
            <a:srgbClr val="D2F4F4"/>
          </a:solidFill>
          <a:ln w="17780">
            <a:solidFill>
              <a:srgbClr val="5A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latin typeface="Microsoft YaHei"/>
              </a:rPr>
              <a:t>融合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743200"/>
            <a:ext cx="914400" cy="640080"/>
          </a:xfrm>
          <a:prstGeom prst="roundRect">
            <a:avLst/>
          </a:prstGeom>
          <a:solidFill>
            <a:srgbClr val="FAFD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latin typeface="Microsoft YaHei"/>
              </a:rPr>
              <a:t>末位置
表示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743200"/>
            <a:ext cx="685800" cy="640080"/>
          </a:xfrm>
          <a:prstGeom prst="roundRect">
            <a:avLst/>
          </a:prstGeom>
          <a:solidFill>
            <a:srgbClr val="FAFD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latin typeface="Microsoft YaHei"/>
              </a:rPr>
              <a:t>物品
得分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2743200"/>
            <a:ext cx="868680" cy="640080"/>
          </a:xfrm>
          <a:prstGeom prst="roundRect">
            <a:avLst/>
          </a:prstGeom>
          <a:solidFill>
            <a:srgbClr val="FAFD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latin typeface="Microsoft YaHei"/>
              </a:rPr>
              <a:t>下一物品
预测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1143000"/>
            <a:ext cx="5669280" cy="1051560"/>
          </a:xfrm>
          <a:prstGeom prst="roundRect">
            <a:avLst/>
          </a:prstGeom>
          <a:solidFill>
            <a:srgbClr val="F7F7F0"/>
          </a:solidFill>
          <a:ln w="17780">
            <a:solidFill>
              <a:srgbClr val="A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latin typeface="Microsoft YaHei"/>
              </a:rPr>
              <a:t>STC（仅训练阶段启用）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170432"/>
            <a:ext cx="658368" cy="256032"/>
          </a:xfrm>
          <a:prstGeom prst="roundRect">
            <a:avLst/>
          </a:prstGeom>
          <a:solidFill>
            <a:srgbClr val="E6E6DC"/>
          </a:solidFill>
          <a:ln w="17780">
            <a:solidFill>
              <a:srgbClr val="82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latin typeface="Microsoft YaHei"/>
              </a:rPr>
              <a:t>仅训练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1481328"/>
            <a:ext cx="960120" cy="502920"/>
          </a:xfrm>
          <a:prstGeom prst="roundRect">
            <a:avLst/>
          </a:prstGeom>
          <a:solidFill>
            <a:srgbClr val="DAF8F8"/>
          </a:solidFill>
          <a:ln w="17780">
            <a:solidFill>
              <a:srgbClr val="5A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latin typeface="Microsoft YaHei"/>
              </a:rPr>
              <a:t>调度式时间增强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481328"/>
            <a:ext cx="411480" cy="502920"/>
          </a:xfrm>
          <a:prstGeom prst="roundRect">
            <a:avLst/>
          </a:prstGeom>
          <a:solidFill>
            <a:srgbClr val="DAF8F8"/>
          </a:solidFill>
          <a:ln w="17780">
            <a:solidFill>
              <a:srgbClr val="5A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latin typeface="Microsoft YaHei"/>
              </a:rPr>
              <a:t>T_aug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481328"/>
            <a:ext cx="822960" cy="502920"/>
          </a:xfrm>
          <a:prstGeom prst="roundRect">
            <a:avLst/>
          </a:prstGeom>
          <a:solidFill>
            <a:srgbClr val="DAF8F8"/>
          </a:solidFill>
          <a:ln w="17780">
            <a:solidFill>
              <a:srgbClr val="5A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latin typeface="Microsoft YaHei"/>
              </a:rPr>
              <a:t>共享
编码器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1481328"/>
            <a:ext cx="914400" cy="502920"/>
          </a:xfrm>
          <a:prstGeom prst="roundRect">
            <a:avLst/>
          </a:prstGeom>
          <a:solidFill>
            <a:srgbClr val="FAFDFF"/>
          </a:solidFill>
          <a:ln w="1778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latin typeface="Microsoft YaHei"/>
              </a:rPr>
              <a:t>对比损失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54480" y="2788920"/>
            <a:ext cx="45720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31920" y="2852928"/>
            <a:ext cx="292608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81728" y="2852928"/>
            <a:ext cx="438912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263640" y="2816352"/>
            <a:ext cx="274320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23760" y="3017520"/>
            <a:ext cx="594360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732520" y="3063240"/>
            <a:ext cx="320040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38360" y="3063240"/>
            <a:ext cx="274320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63640" y="2816352"/>
            <a:ext cx="27432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572768" y="2011680"/>
            <a:ext cx="3822192" cy="0"/>
          </a:xfrm>
          <a:prstGeom prst="line">
            <a:avLst/>
          </a:prstGeom>
          <a:ln w="203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55080" y="1737360"/>
            <a:ext cx="228600" cy="0"/>
          </a:xfrm>
          <a:prstGeom prst="line">
            <a:avLst/>
          </a:prstGeom>
          <a:ln w="203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95160" y="1737360"/>
            <a:ext cx="274320" cy="0"/>
          </a:xfrm>
          <a:prstGeom prst="line">
            <a:avLst/>
          </a:prstGeom>
          <a:ln w="203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92440" y="1737360"/>
            <a:ext cx="274320" cy="0"/>
          </a:xfrm>
          <a:prstGeom prst="line">
            <a:avLst/>
          </a:prstGeom>
          <a:ln w="203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81160" y="2011680"/>
            <a:ext cx="0" cy="548640"/>
          </a:xfrm>
          <a:prstGeom prst="line">
            <a:avLst/>
          </a:prstGeom>
          <a:ln w="203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092440" y="2560320"/>
            <a:ext cx="1188720" cy="0"/>
          </a:xfrm>
          <a:prstGeom prst="line">
            <a:avLst/>
          </a:prstGeom>
          <a:ln w="203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92440" y="2560320"/>
            <a:ext cx="0" cy="182880"/>
          </a:xfrm>
          <a:prstGeom prst="line">
            <a:avLst/>
          </a:prstGeom>
          <a:ln w="203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6840" y="2532888"/>
            <a:ext cx="0" cy="210312"/>
          </a:xfrm>
          <a:prstGeom prst="line">
            <a:avLst/>
          </a:prstGeom>
          <a:ln w="2032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82880" y="169164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latin typeface="Microsoft YaHei"/>
              </a:rPr>
              <a:t>输入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123444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latin typeface="Microsoft YaHei"/>
              </a:rPr>
              <a:t>Training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86868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latin typeface="Microsoft YaHei"/>
              </a:rPr>
              <a:t>仅训练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